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102E"/>
    <a:srgbClr val="003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8"/>
          <p:cNvSpPr>
            <a:spLocks noChangeArrowheads="1"/>
          </p:cNvSpPr>
          <p:nvPr userDrawn="1"/>
        </p:nvSpPr>
        <p:spPr bwMode="auto">
          <a:xfrm>
            <a:off x="383117" y="6297614"/>
            <a:ext cx="11444816" cy="287337"/>
          </a:xfrm>
          <a:prstGeom prst="rect">
            <a:avLst/>
          </a:prstGeom>
          <a:solidFill>
            <a:srgbClr val="BE1E3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5" name="Rectangle 17"/>
          <p:cNvSpPr>
            <a:spLocks noChangeArrowheads="1"/>
          </p:cNvSpPr>
          <p:nvPr userDrawn="1"/>
        </p:nvSpPr>
        <p:spPr bwMode="auto">
          <a:xfrm>
            <a:off x="383117" y="4103689"/>
            <a:ext cx="11444816" cy="2192337"/>
          </a:xfrm>
          <a:prstGeom prst="rect">
            <a:avLst/>
          </a:prstGeom>
          <a:solidFill>
            <a:srgbClr val="003F5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de-DE">
                <a:latin typeface="+mn-lt"/>
              </a:rPr>
              <a:t>   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235459" y="4779150"/>
            <a:ext cx="10236873" cy="269850"/>
          </a:xfrm>
          <a:ln>
            <a:solidFill>
              <a:srgbClr val="003F57"/>
            </a:solidFill>
          </a:ln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Format 16:9</a:t>
            </a:r>
          </a:p>
        </p:txBody>
      </p:sp>
      <p:sp>
        <p:nvSpPr>
          <p:cNvPr id="4" name="Textfeld 3"/>
          <p:cNvSpPr txBox="1"/>
          <p:nvPr userDrawn="1"/>
        </p:nvSpPr>
        <p:spPr>
          <a:xfrm>
            <a:off x="1109133" y="5229200"/>
            <a:ext cx="10363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de-DE" sz="1500" dirty="0" err="1">
                <a:solidFill>
                  <a:schemeClr val="bg1"/>
                </a:solidFill>
                <a:latin typeface="+mn-lt"/>
              </a:rPr>
              <a:t>You</a:t>
            </a:r>
            <a:r>
              <a:rPr lang="de-DE" sz="1500" dirty="0">
                <a:solidFill>
                  <a:schemeClr val="bg1"/>
                </a:solidFill>
                <a:latin typeface="+mn-lt"/>
              </a:rPr>
              <a:t> do not </a:t>
            </a:r>
            <a:r>
              <a:rPr lang="de-DE" sz="1500" dirty="0" err="1">
                <a:solidFill>
                  <a:schemeClr val="bg1"/>
                </a:solidFill>
                <a:latin typeface="+mn-lt"/>
              </a:rPr>
              <a:t>have</a:t>
            </a:r>
            <a:r>
              <a:rPr lang="de-DE" sz="1500" dirty="0">
                <a:solidFill>
                  <a:schemeClr val="bg1"/>
                </a:solidFill>
                <a:latin typeface="+mn-lt"/>
              </a:rPr>
              <a:t> </a:t>
            </a:r>
            <a:r>
              <a:rPr lang="de-DE" sz="1500" dirty="0" err="1">
                <a:solidFill>
                  <a:schemeClr val="bg1"/>
                </a:solidFill>
                <a:latin typeface="+mn-lt"/>
              </a:rPr>
              <a:t>to</a:t>
            </a:r>
            <a:r>
              <a:rPr lang="de-DE" sz="1500" dirty="0">
                <a:solidFill>
                  <a:schemeClr val="bg1"/>
                </a:solidFill>
                <a:latin typeface="+mn-lt"/>
              </a:rPr>
              <a:t> </a:t>
            </a:r>
            <a:r>
              <a:rPr lang="de-DE" sz="1500" dirty="0" err="1">
                <a:solidFill>
                  <a:schemeClr val="bg1"/>
                </a:solidFill>
                <a:latin typeface="+mn-lt"/>
              </a:rPr>
              <a:t>submit</a:t>
            </a:r>
            <a:r>
              <a:rPr lang="de-DE" sz="1500" baseline="0" dirty="0">
                <a:solidFill>
                  <a:schemeClr val="bg1"/>
                </a:solidFill>
                <a:latin typeface="+mn-lt"/>
              </a:rPr>
              <a:t> a title </a:t>
            </a:r>
            <a:r>
              <a:rPr lang="de-DE" sz="1500" baseline="0" dirty="0" err="1">
                <a:solidFill>
                  <a:schemeClr val="bg1"/>
                </a:solidFill>
                <a:latin typeface="+mn-lt"/>
              </a:rPr>
              <a:t>page</a:t>
            </a:r>
            <a:endParaRPr lang="de-DE" sz="15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feld 5"/>
          <p:cNvSpPr txBox="1"/>
          <p:nvPr userDrawn="1"/>
        </p:nvSpPr>
        <p:spPr>
          <a:xfrm>
            <a:off x="1109133" y="4374105"/>
            <a:ext cx="1036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baseline="0" dirty="0">
                <a:solidFill>
                  <a:schemeClr val="bg1"/>
                </a:solidFill>
                <a:latin typeface="+mn-lt"/>
              </a:rPr>
              <a:t>PowerPoint Template</a:t>
            </a:r>
            <a:endParaRPr lang="de-DE" sz="20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589" y="812346"/>
            <a:ext cx="2141596" cy="501965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" t="24801" r="154" b="5520"/>
          <a:stretch/>
        </p:blipFill>
        <p:spPr>
          <a:xfrm>
            <a:off x="383117" y="1449389"/>
            <a:ext cx="11445604" cy="2667072"/>
          </a:xfrm>
          <a:prstGeom prst="rect">
            <a:avLst/>
          </a:prstGeom>
        </p:spPr>
      </p:pic>
      <p:pic>
        <p:nvPicPr>
          <p:cNvPr id="11" name="Picture 13" descr="TUBS_CO_150dpi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648000"/>
            <a:ext cx="2832001" cy="10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1548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75734" y="1200000"/>
            <a:ext cx="11167533" cy="4608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042" y="6221356"/>
            <a:ext cx="1269225" cy="2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71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75733" y="1200000"/>
            <a:ext cx="5376000" cy="456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0"/>
          </p:nvPr>
        </p:nvSpPr>
        <p:spPr>
          <a:xfrm>
            <a:off x="6480043" y="1200000"/>
            <a:ext cx="5376000" cy="456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042" y="6221356"/>
            <a:ext cx="1269225" cy="2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083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042" y="6221356"/>
            <a:ext cx="1269225" cy="2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26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734" y="111126"/>
            <a:ext cx="11167533" cy="7080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Diagrammplatzhalter 2"/>
          <p:cNvSpPr>
            <a:spLocks noGrp="1"/>
          </p:cNvSpPr>
          <p:nvPr>
            <p:ph type="chart" idx="1"/>
          </p:nvPr>
        </p:nvSpPr>
        <p:spPr>
          <a:xfrm>
            <a:off x="575734" y="1200000"/>
            <a:ext cx="11167533" cy="4608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Diagramm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042" y="6221356"/>
            <a:ext cx="1269225" cy="2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6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/>
          <p:cNvSpPr>
            <a:spLocks noChangeArrowheads="1"/>
          </p:cNvSpPr>
          <p:nvPr userDrawn="1"/>
        </p:nvSpPr>
        <p:spPr bwMode="auto">
          <a:xfrm>
            <a:off x="0" y="0"/>
            <a:ext cx="12192000" cy="863600"/>
          </a:xfrm>
          <a:prstGeom prst="rect">
            <a:avLst/>
          </a:prstGeom>
          <a:solidFill>
            <a:srgbClr val="DDDDDD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75734" y="1200000"/>
            <a:ext cx="11167533" cy="4608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042" y="6221356"/>
            <a:ext cx="1269225" cy="2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3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8"/>
          <p:cNvSpPr>
            <a:spLocks noChangeArrowheads="1"/>
          </p:cNvSpPr>
          <p:nvPr userDrawn="1"/>
        </p:nvSpPr>
        <p:spPr bwMode="auto">
          <a:xfrm>
            <a:off x="0" y="0"/>
            <a:ext cx="12192000" cy="863600"/>
          </a:xfrm>
          <a:prstGeom prst="rect">
            <a:avLst/>
          </a:prstGeom>
          <a:solidFill>
            <a:srgbClr val="DDDDDD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75733" y="1200000"/>
            <a:ext cx="5376000" cy="456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0"/>
          </p:nvPr>
        </p:nvSpPr>
        <p:spPr>
          <a:xfrm>
            <a:off x="6480043" y="1200000"/>
            <a:ext cx="5376000" cy="456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042" y="6221356"/>
            <a:ext cx="1269225" cy="2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915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>
            <a:spLocks noChangeArrowheads="1"/>
          </p:cNvSpPr>
          <p:nvPr userDrawn="1"/>
        </p:nvSpPr>
        <p:spPr bwMode="auto">
          <a:xfrm>
            <a:off x="0" y="0"/>
            <a:ext cx="12192000" cy="863600"/>
          </a:xfrm>
          <a:prstGeom prst="rect">
            <a:avLst/>
          </a:prstGeom>
          <a:solidFill>
            <a:srgbClr val="DDDDDD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042" y="6221356"/>
            <a:ext cx="1269225" cy="2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071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1_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/>
          <p:cNvSpPr>
            <a:spLocks noChangeArrowheads="1"/>
          </p:cNvSpPr>
          <p:nvPr userDrawn="1"/>
        </p:nvSpPr>
        <p:spPr bwMode="auto">
          <a:xfrm>
            <a:off x="0" y="0"/>
            <a:ext cx="12192000" cy="863600"/>
          </a:xfrm>
          <a:prstGeom prst="rect">
            <a:avLst/>
          </a:prstGeom>
          <a:solidFill>
            <a:srgbClr val="DDDDDD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734" y="111126"/>
            <a:ext cx="11167533" cy="708025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Diagrammplatzhalter 2"/>
          <p:cNvSpPr>
            <a:spLocks noGrp="1"/>
          </p:cNvSpPr>
          <p:nvPr>
            <p:ph type="chart" idx="1"/>
          </p:nvPr>
        </p:nvSpPr>
        <p:spPr>
          <a:xfrm>
            <a:off x="575734" y="1200000"/>
            <a:ext cx="11167533" cy="4608000"/>
          </a:xfrm>
        </p:spPr>
        <p:txBody>
          <a:bodyPr/>
          <a:lstStyle/>
          <a:p>
            <a:r>
              <a:rPr lang="de-DE"/>
              <a:t>Diagramm durch Klicken auf Symbol hinzufügen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042" y="6221356"/>
            <a:ext cx="1269225" cy="2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2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 userDrawn="1"/>
        </p:nvSpPr>
        <p:spPr bwMode="auto">
          <a:xfrm>
            <a:off x="0" y="1"/>
            <a:ext cx="12192000" cy="1133475"/>
          </a:xfrm>
          <a:prstGeom prst="rect">
            <a:avLst/>
          </a:prstGeom>
          <a:solidFill>
            <a:schemeClr val="hlink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Rectangle 3"/>
          <p:cNvSpPr>
            <a:spLocks noGrp="1" noChangeArrowheads="1"/>
          </p:cNvSpPr>
          <p:nvPr userDrawn="1">
            <p:ph type="body" idx="1"/>
          </p:nvPr>
        </p:nvSpPr>
        <p:spPr bwMode="gray">
          <a:xfrm>
            <a:off x="575733" y="1339851"/>
            <a:ext cx="11161184" cy="4622800"/>
          </a:xfrm>
          <a:noFill/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>
              <a:buClr>
                <a:srgbClr val="C0C0C0"/>
              </a:buClr>
            </a:pPr>
            <a:r>
              <a:rPr lang="de-DE" sz="2667" dirty="0">
                <a:solidFill>
                  <a:srgbClr val="C0C0C0"/>
                </a:solidFill>
              </a:rPr>
              <a:t>Textmasterformat bearbeiten</a:t>
            </a:r>
          </a:p>
          <a:p>
            <a:pPr lvl="1">
              <a:buClr>
                <a:srgbClr val="C0C0C0"/>
              </a:buClr>
            </a:pPr>
            <a:r>
              <a:rPr lang="de-DE" sz="2667" dirty="0">
                <a:solidFill>
                  <a:srgbClr val="C0C0C0"/>
                </a:solidFill>
              </a:rPr>
              <a:t>Zweite Ebene</a:t>
            </a:r>
          </a:p>
          <a:p>
            <a:pPr lvl="2">
              <a:buClr>
                <a:srgbClr val="C0C0C0"/>
              </a:buClr>
            </a:pPr>
            <a:r>
              <a:rPr lang="de-DE" sz="2667" dirty="0">
                <a:solidFill>
                  <a:srgbClr val="C0C0C0"/>
                </a:solidFill>
              </a:rPr>
              <a:t>Dritte Ebene</a:t>
            </a:r>
          </a:p>
          <a:p>
            <a:pPr lvl="3">
              <a:buClr>
                <a:srgbClr val="C0C0C0"/>
              </a:buClr>
            </a:pPr>
            <a:r>
              <a:rPr lang="de-DE" sz="2667" dirty="0">
                <a:solidFill>
                  <a:srgbClr val="C0C0C0"/>
                </a:solidFill>
              </a:rPr>
              <a:t>Vierte Ebene</a:t>
            </a:r>
          </a:p>
          <a:p>
            <a:pPr lvl="4">
              <a:buClr>
                <a:srgbClr val="C0C0C0"/>
              </a:buClr>
            </a:pPr>
            <a:r>
              <a:rPr lang="de-DE" sz="2667" dirty="0">
                <a:solidFill>
                  <a:srgbClr val="C0C0C0"/>
                </a:solidFill>
              </a:rPr>
              <a:t>Fünfte Ebene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042" y="6221356"/>
            <a:ext cx="1269225" cy="2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45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Overl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5" name="Rechteck 4"/>
          <p:cNvSpPr/>
          <p:nvPr userDrawn="1"/>
        </p:nvSpPr>
        <p:spPr>
          <a:xfrm>
            <a:off x="0" y="5904276"/>
            <a:ext cx="12192000" cy="9537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042" y="6221356"/>
            <a:ext cx="1269225" cy="2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59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fN-Danksagung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kumente und Einstellungen\Spika\Desktop\Design\image6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5837" y="864000"/>
            <a:ext cx="8576163" cy="5227238"/>
          </a:xfrm>
          <a:prstGeom prst="rect">
            <a:avLst/>
          </a:prstGeom>
          <a:noFill/>
        </p:spPr>
      </p:pic>
      <p:sp>
        <p:nvSpPr>
          <p:cNvPr id="5" name="Textfeld 4"/>
          <p:cNvSpPr txBox="1"/>
          <p:nvPr userDrawn="1"/>
        </p:nvSpPr>
        <p:spPr>
          <a:xfrm>
            <a:off x="719667" y="1600201"/>
            <a:ext cx="926253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Vielen Dank für</a:t>
            </a:r>
            <a:br>
              <a:rPr lang="de-DE" sz="3600" b="1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de-DE" sz="3600" b="1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Ihre Aufmerksamkeit.</a:t>
            </a:r>
            <a:endParaRPr lang="de-DE" sz="36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feld 5"/>
          <p:cNvSpPr txBox="1"/>
          <p:nvPr userDrawn="1"/>
        </p:nvSpPr>
        <p:spPr>
          <a:xfrm>
            <a:off x="719668" y="4695825"/>
            <a:ext cx="10570632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Dipl.-Ing. Vorname Nachname, </a:t>
            </a:r>
            <a:r>
              <a:rPr kumimoji="0" lang="de-D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M.Sc</a:t>
            </a: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(im Master ändern)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name@ifn.ing.tu-bs.de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042" y="6221356"/>
            <a:ext cx="1269225" cy="2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490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0" b="46427"/>
          <a:stretch/>
        </p:blipFill>
        <p:spPr>
          <a:xfrm>
            <a:off x="288000" y="563335"/>
            <a:ext cx="11630375" cy="3697845"/>
          </a:xfrm>
          <a:prstGeom prst="rect">
            <a:avLst/>
          </a:prstGeom>
        </p:spPr>
      </p:pic>
      <p:sp>
        <p:nvSpPr>
          <p:cNvPr id="10" name="Rechteck 9"/>
          <p:cNvSpPr/>
          <p:nvPr userDrawn="1"/>
        </p:nvSpPr>
        <p:spPr>
          <a:xfrm>
            <a:off x="11918374" y="0"/>
            <a:ext cx="273626" cy="68640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Rectangle 17"/>
          <p:cNvSpPr>
            <a:spLocks noChangeArrowheads="1"/>
          </p:cNvSpPr>
          <p:nvPr userDrawn="1"/>
        </p:nvSpPr>
        <p:spPr bwMode="auto">
          <a:xfrm>
            <a:off x="288000" y="3717032"/>
            <a:ext cx="11630374" cy="2374167"/>
          </a:xfrm>
          <a:prstGeom prst="rect">
            <a:avLst/>
          </a:prstGeom>
          <a:solidFill>
            <a:srgbClr val="003F5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de-DE" dirty="0">
                <a:solidFill>
                  <a:schemeClr val="bg1"/>
                </a:solidFill>
                <a:latin typeface="+mn-lt"/>
              </a:rPr>
              <a:t>   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109133" y="3717033"/>
            <a:ext cx="10363200" cy="11641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Zwischentitel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107018" y="5241033"/>
            <a:ext cx="10329333" cy="444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Untertitel</a:t>
            </a:r>
          </a:p>
        </p:txBody>
      </p:sp>
      <p:pic>
        <p:nvPicPr>
          <p:cNvPr id="13" name="Picture 20" descr="TUBS_CO_70vH_150dpi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5915031"/>
            <a:ext cx="1809187" cy="669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042" y="6221356"/>
            <a:ext cx="1269225" cy="2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76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Line 14"/>
          <p:cNvSpPr>
            <a:spLocks noChangeShapeType="1"/>
          </p:cNvSpPr>
          <p:nvPr/>
        </p:nvSpPr>
        <p:spPr bwMode="auto">
          <a:xfrm>
            <a:off x="0" y="6081600"/>
            <a:ext cx="12192000" cy="0"/>
          </a:xfrm>
          <a:prstGeom prst="line">
            <a:avLst/>
          </a:prstGeom>
          <a:noFill/>
          <a:ln w="9525">
            <a:solidFill>
              <a:srgbClr val="BE1E3C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5734" y="111126"/>
            <a:ext cx="1116753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5734" y="1200000"/>
            <a:ext cx="11167533" cy="46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044" name="Picture 20" descr="TUBS_CO_70vH_150dpi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" y="5915031"/>
            <a:ext cx="1809187" cy="669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feld 7"/>
          <p:cNvSpPr txBox="1"/>
          <p:nvPr/>
        </p:nvSpPr>
        <p:spPr>
          <a:xfrm>
            <a:off x="1895533" y="6140451"/>
            <a:ext cx="7541544" cy="3284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67" dirty="0">
                <a:latin typeface="+mn-lt"/>
              </a:rPr>
              <a:t>28.05.2021 | Inga Schleicher | PowerPoint Vorlage 16:9 </a:t>
            </a:r>
            <a:r>
              <a:rPr lang="de-DE" sz="1067" dirty="0" err="1">
                <a:latin typeface="+mn-lt"/>
              </a:rPr>
              <a:t>IfN</a:t>
            </a:r>
            <a:r>
              <a:rPr lang="de-DE" sz="1067" dirty="0">
                <a:latin typeface="+mn-lt"/>
              </a:rPr>
              <a:t> | Seite</a:t>
            </a:r>
            <a:r>
              <a:rPr lang="de-DE" sz="1067" baseline="0" dirty="0">
                <a:latin typeface="+mn-lt"/>
              </a:rPr>
              <a:t> </a:t>
            </a:r>
            <a:fld id="{54091A06-E49E-4F45-A4ED-27B9A60B04AE}" type="slidenum">
              <a:rPr lang="de-DE" sz="1067" baseline="0" smtClean="0">
                <a:latin typeface="+mn-lt"/>
              </a:rPr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de-DE" sz="1067" baseline="0" dirty="0">
                <a:latin typeface="+mn-lt"/>
              </a:rPr>
              <a:t>/ </a:t>
            </a:r>
            <a:r>
              <a:rPr lang="de-DE" sz="1067" baseline="0" dirty="0" err="1">
                <a:latin typeface="+mn-lt"/>
              </a:rPr>
              <a:t>xy</a:t>
            </a:r>
            <a:r>
              <a:rPr lang="de-DE" sz="1067" baseline="0" dirty="0">
                <a:latin typeface="+mn-lt"/>
              </a:rPr>
              <a:t> [</a:t>
            </a:r>
            <a:r>
              <a:rPr lang="de-DE" sz="1067" baseline="0" dirty="0" err="1">
                <a:latin typeface="+mn-lt"/>
              </a:rPr>
              <a:t>we</a:t>
            </a:r>
            <a:r>
              <a:rPr lang="de-DE" sz="1067" baseline="0" dirty="0">
                <a:latin typeface="+mn-lt"/>
              </a:rPr>
              <a:t> will </a:t>
            </a:r>
            <a:r>
              <a:rPr lang="de-DE" sz="1067" baseline="0" dirty="0" err="1">
                <a:latin typeface="+mn-lt"/>
              </a:rPr>
              <a:t>change</a:t>
            </a:r>
            <a:r>
              <a:rPr lang="de-DE" sz="1067" baseline="0" dirty="0">
                <a:latin typeface="+mn-lt"/>
              </a:rPr>
              <a:t> </a:t>
            </a:r>
            <a:r>
              <a:rPr lang="de-DE" sz="1067" baseline="0" dirty="0" err="1">
                <a:latin typeface="+mn-lt"/>
              </a:rPr>
              <a:t>this</a:t>
            </a:r>
            <a:r>
              <a:rPr lang="de-DE" sz="1067" baseline="0" dirty="0">
                <a:latin typeface="+mn-lt"/>
              </a:rPr>
              <a:t> </a:t>
            </a:r>
            <a:r>
              <a:rPr lang="de-DE" sz="1067" baseline="0" dirty="0" err="1">
                <a:latin typeface="+mn-lt"/>
              </a:rPr>
              <a:t>for</a:t>
            </a:r>
            <a:r>
              <a:rPr lang="de-DE" sz="1067" baseline="0" dirty="0">
                <a:latin typeface="+mn-lt"/>
              </a:rPr>
              <a:t> </a:t>
            </a:r>
            <a:r>
              <a:rPr lang="de-DE" sz="1067" baseline="0" dirty="0" err="1">
                <a:latin typeface="+mn-lt"/>
              </a:rPr>
              <a:t>you</a:t>
            </a:r>
            <a:r>
              <a:rPr lang="de-DE" sz="1067" baseline="0" dirty="0">
                <a:latin typeface="+mn-lt"/>
              </a:rPr>
              <a:t>]</a:t>
            </a:r>
            <a:endParaRPr lang="de-DE" sz="1067" dirty="0">
              <a:latin typeface="+mn-lt"/>
            </a:endParaRPr>
          </a:p>
          <a:p>
            <a:endParaRPr lang="de-DE" sz="1067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840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5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spcBef>
          <a:spcPct val="20000"/>
        </a:spcBef>
        <a:spcAft>
          <a:spcPct val="0"/>
        </a:spcAft>
        <a:defRPr sz="2133">
          <a:solidFill>
            <a:schemeClr val="tx1"/>
          </a:solidFill>
          <a:latin typeface="+mn-lt"/>
          <a:ea typeface="+mn-ea"/>
          <a:cs typeface="+mn-cs"/>
        </a:defRPr>
      </a:lvl1pPr>
      <a:lvl2pPr marL="253994" indent="-25187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133">
          <a:solidFill>
            <a:schemeClr val="tx1"/>
          </a:solidFill>
          <a:latin typeface="+mn-lt"/>
        </a:defRPr>
      </a:lvl2pPr>
      <a:lvl3pPr marL="482588" indent="-22647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133">
          <a:solidFill>
            <a:schemeClr val="tx1"/>
          </a:solidFill>
          <a:latin typeface="+mn-lt"/>
        </a:defRPr>
      </a:lvl3pPr>
      <a:lvl4pPr marL="723882" indent="-23917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133">
          <a:solidFill>
            <a:schemeClr val="tx1"/>
          </a:solidFill>
          <a:latin typeface="+mn-lt"/>
        </a:defRPr>
      </a:lvl4pPr>
      <a:lvl5pPr marL="990575" indent="-26457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133">
          <a:solidFill>
            <a:schemeClr val="tx1"/>
          </a:solidFill>
          <a:latin typeface="+mn-lt"/>
        </a:defRPr>
      </a:lvl5pPr>
      <a:lvl6pPr marL="1600160" indent="-264577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133">
          <a:solidFill>
            <a:schemeClr val="tx1"/>
          </a:solidFill>
          <a:latin typeface="+mn-lt"/>
        </a:defRPr>
      </a:lvl6pPr>
      <a:lvl7pPr marL="2209745" indent="-264577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133">
          <a:solidFill>
            <a:schemeClr val="tx1"/>
          </a:solidFill>
          <a:latin typeface="+mn-lt"/>
        </a:defRPr>
      </a:lvl7pPr>
      <a:lvl8pPr marL="2819330" indent="-264577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133">
          <a:solidFill>
            <a:schemeClr val="tx1"/>
          </a:solidFill>
          <a:latin typeface="+mn-lt"/>
        </a:defRPr>
      </a:lvl8pPr>
      <a:lvl9pPr marL="3428914" indent="-264577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133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Motivation &amp; Metrics: Explainability with Grad-CAM</a:t>
            </a:r>
            <a:endParaRPr lang="de-DE" sz="24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75734" y="1200000"/>
            <a:ext cx="9147385" cy="4608000"/>
          </a:xfrm>
        </p:spPr>
        <p:txBody>
          <a:bodyPr/>
          <a:lstStyle/>
          <a:p>
            <a:pPr indent="-21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800" b="1" dirty="0"/>
              <a:t>Brief motivation: </a:t>
            </a:r>
          </a:p>
          <a:p>
            <a:pPr indent="-21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Deep models are black-boxes — explainability bridges the gap between accuracy and trust.</a:t>
            </a:r>
            <a:r>
              <a:rPr lang="en-US" sz="1400" dirty="0"/>
              <a:t> </a:t>
            </a:r>
          </a:p>
          <a:p>
            <a:pPr indent="-21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We chose </a:t>
            </a:r>
            <a:r>
              <a:rPr lang="en-US" sz="1600" dirty="0"/>
              <a:t>Grad-CAM for its spatial and class-specific saliency visualization.</a:t>
            </a:r>
            <a:endParaRPr lang="en-US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8A480A-F104-9F10-28E4-F7B3E879B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502521"/>
              </p:ext>
            </p:extLst>
          </p:nvPr>
        </p:nvGraphicFramePr>
        <p:xfrm>
          <a:off x="9072053" y="2907244"/>
          <a:ext cx="254421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071">
                  <a:extLst>
                    <a:ext uri="{9D8B030D-6E8A-4147-A177-3AD203B41FA5}">
                      <a16:colId xmlns:a16="http://schemas.microsoft.com/office/drawing/2014/main" val="2735343296"/>
                    </a:ext>
                  </a:extLst>
                </a:gridCol>
                <a:gridCol w="848071">
                  <a:extLst>
                    <a:ext uri="{9D8B030D-6E8A-4147-A177-3AD203B41FA5}">
                      <a16:colId xmlns:a16="http://schemas.microsoft.com/office/drawing/2014/main" val="3892608558"/>
                    </a:ext>
                  </a:extLst>
                </a:gridCol>
                <a:gridCol w="848071">
                  <a:extLst>
                    <a:ext uri="{9D8B030D-6E8A-4147-A177-3AD203B41FA5}">
                      <a16:colId xmlns:a16="http://schemas.microsoft.com/office/drawing/2014/main" val="2171591599"/>
                    </a:ext>
                  </a:extLst>
                </a:gridCol>
              </a:tblGrid>
              <a:tr h="701828">
                <a:tc>
                  <a:txBody>
                    <a:bodyPr/>
                    <a:lstStyle/>
                    <a:p>
                      <a:r>
                        <a:rPr lang="en-IN" sz="1600" b="1" dirty="0"/>
                        <a:t>Grad-CAM </a:t>
                      </a:r>
                      <a:r>
                        <a:rPr lang="en-IN" sz="1600" b="1" dirty="0" err="1"/>
                        <a:t>iAUC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/>
                        <a:t>Mean </a:t>
                      </a:r>
                      <a:r>
                        <a:rPr lang="en-IN" sz="1600" b="1" dirty="0" err="1"/>
                        <a:t>IoU</a:t>
                      </a:r>
                      <a:endParaRPr lang="en-IN" sz="1600" b="1" dirty="0"/>
                    </a:p>
                    <a:p>
                      <a:endParaRPr lang="en-IN" sz="1600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Pointing Game: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2613"/>
                  </a:ext>
                </a:extLst>
              </a:tr>
              <a:tr h="661724">
                <a:tc>
                  <a:txBody>
                    <a:bodyPr/>
                    <a:lstStyle/>
                    <a:p>
                      <a:endParaRPr lang="en-IN" sz="2000" dirty="0"/>
                    </a:p>
                    <a:p>
                      <a:r>
                        <a:rPr lang="en-IN" sz="2000" dirty="0"/>
                        <a:t>0.730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0.293</a:t>
                      </a:r>
                      <a:endParaRPr lang="en-IN" sz="2000"/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0.535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244294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C04E89E0-DFC1-A77A-AFC6-D8B88B4EC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838" y="2587333"/>
            <a:ext cx="3176070" cy="24850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C0621D-6701-A719-4E74-D929D0DF7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59" y="2587333"/>
            <a:ext cx="3170208" cy="24686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3D2CCE-0AF4-3BFF-6A19-2E82A7A246BE}"/>
              </a:ext>
            </a:extLst>
          </p:cNvPr>
          <p:cNvSpPr txBox="1"/>
          <p:nvPr/>
        </p:nvSpPr>
        <p:spPr>
          <a:xfrm>
            <a:off x="799456" y="4918520"/>
            <a:ext cx="6099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Saliency maps localize key evidence supporting predictions.</a:t>
            </a:r>
            <a:endParaRPr lang="en-IN" sz="12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403A4FA-054F-FC2E-4C9E-769697BED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344250"/>
              </p:ext>
            </p:extLst>
          </p:nvPr>
        </p:nvGraphicFramePr>
        <p:xfrm>
          <a:off x="6344811" y="2915471"/>
          <a:ext cx="254421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071">
                  <a:extLst>
                    <a:ext uri="{9D8B030D-6E8A-4147-A177-3AD203B41FA5}">
                      <a16:colId xmlns:a16="http://schemas.microsoft.com/office/drawing/2014/main" val="2735343296"/>
                    </a:ext>
                  </a:extLst>
                </a:gridCol>
                <a:gridCol w="848071">
                  <a:extLst>
                    <a:ext uri="{9D8B030D-6E8A-4147-A177-3AD203B41FA5}">
                      <a16:colId xmlns:a16="http://schemas.microsoft.com/office/drawing/2014/main" val="3892608558"/>
                    </a:ext>
                  </a:extLst>
                </a:gridCol>
                <a:gridCol w="848071">
                  <a:extLst>
                    <a:ext uri="{9D8B030D-6E8A-4147-A177-3AD203B41FA5}">
                      <a16:colId xmlns:a16="http://schemas.microsoft.com/office/drawing/2014/main" val="2171591599"/>
                    </a:ext>
                  </a:extLst>
                </a:gridCol>
              </a:tblGrid>
              <a:tr h="701828">
                <a:tc>
                  <a:txBody>
                    <a:bodyPr/>
                    <a:lstStyle/>
                    <a:p>
                      <a:r>
                        <a:rPr lang="en-IN" sz="1600" dirty="0"/>
                        <a:t>Test Accuracy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Test </a:t>
                      </a:r>
                      <a:r>
                        <a:rPr lang="en-IN" sz="1600" dirty="0" err="1"/>
                        <a:t>Auroc</a:t>
                      </a:r>
                      <a:endParaRPr lang="en-IN" sz="1600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Test Map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2613"/>
                  </a:ext>
                </a:extLst>
              </a:tr>
              <a:tr h="661724">
                <a:tc>
                  <a:txBody>
                    <a:bodyPr/>
                    <a:lstStyle/>
                    <a:p>
                      <a:endParaRPr lang="en-IN" sz="2000" dirty="0"/>
                    </a:p>
                    <a:p>
                      <a:r>
                        <a:rPr lang="en-IN" sz="2000" dirty="0"/>
                        <a:t>0.978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0.984</a:t>
                      </a:r>
                      <a:endParaRPr lang="en-IN" sz="2000" dirty="0"/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0.901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244294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3ED25EA-EF1B-F2BC-EB8A-9D9A8C63BF91}"/>
              </a:ext>
            </a:extLst>
          </p:cNvPr>
          <p:cNvSpPr txBox="1"/>
          <p:nvPr/>
        </p:nvSpPr>
        <p:spPr>
          <a:xfrm>
            <a:off x="6545066" y="2576917"/>
            <a:ext cx="24440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Classification Metrics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5E8763-B1DD-4AD9-C5BB-1C21B2E012DF}"/>
              </a:ext>
            </a:extLst>
          </p:cNvPr>
          <p:cNvSpPr txBox="1"/>
          <p:nvPr/>
        </p:nvSpPr>
        <p:spPr>
          <a:xfrm>
            <a:off x="9189407" y="2557603"/>
            <a:ext cx="24440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Explainability Metrics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46E2E-74D1-F78B-12B7-B2AF4B184EDC}"/>
              </a:ext>
            </a:extLst>
          </p:cNvPr>
          <p:cNvSpPr txBox="1"/>
          <p:nvPr/>
        </p:nvSpPr>
        <p:spPr>
          <a:xfrm>
            <a:off x="6288129" y="4894287"/>
            <a:ext cx="6099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AUROC reflects prediction ranking quality across thresholds. Grad-CAM </a:t>
            </a:r>
            <a:r>
              <a:rPr lang="en-US" sz="1200" dirty="0" err="1"/>
              <a:t>iAUC</a:t>
            </a:r>
            <a:r>
              <a:rPr lang="en-US" sz="1200" dirty="0"/>
              <a:t> measures how well saliency aligns with important image regions.</a:t>
            </a:r>
            <a:endParaRPr lang="en-IN" sz="1200" i="1" dirty="0"/>
          </a:p>
        </p:txBody>
      </p:sp>
    </p:spTree>
    <p:extLst>
      <p:ext uri="{BB962C8B-B14F-4D97-AF65-F5344CB8AC3E}">
        <p14:creationId xmlns:p14="http://schemas.microsoft.com/office/powerpoint/2010/main" val="2334657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 Evaluating Explanation Quality</a:t>
            </a:r>
            <a:endParaRPr lang="de-DE" sz="24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1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800" b="1" dirty="0"/>
              <a:t>Why Grad-CAM?</a:t>
            </a:r>
            <a:r>
              <a:rPr lang="en-IN" sz="1800" dirty="0"/>
              <a:t> </a:t>
            </a:r>
            <a:br>
              <a:rPr lang="en-US" sz="1600" dirty="0"/>
            </a:br>
            <a:r>
              <a:rPr lang="en-US" sz="1600" dirty="0"/>
              <a:t>Grad-CAM highlights class-specific regions in the image that strongly influence the model’s decision. </a:t>
            </a:r>
          </a:p>
          <a:p>
            <a:pPr marL="285750" indent="-21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How do we evaluate it?</a:t>
            </a:r>
            <a:r>
              <a:rPr lang="en-US" sz="1600" dirty="0"/>
              <a:t> </a:t>
            </a:r>
            <a:r>
              <a:rPr lang="en-US" sz="1600" b="1" dirty="0"/>
              <a:t>:</a:t>
            </a:r>
            <a:br>
              <a:rPr lang="en-US" sz="1600" dirty="0"/>
            </a:br>
            <a:r>
              <a:rPr lang="en-US" sz="1600" dirty="0"/>
              <a:t>We use </a:t>
            </a:r>
            <a:r>
              <a:rPr lang="en-US" sz="1600" b="1" dirty="0"/>
              <a:t>insertion curves</a:t>
            </a:r>
            <a:r>
              <a:rPr lang="en-US" sz="1600" dirty="0"/>
              <a:t> and </a:t>
            </a:r>
            <a:r>
              <a:rPr lang="en-US" sz="1600" b="1" dirty="0"/>
              <a:t>masked visualizations</a:t>
            </a:r>
            <a:r>
              <a:rPr lang="en-US" sz="1600" dirty="0"/>
              <a:t> to test how much the explanation affects model confidence.</a:t>
            </a:r>
          </a:p>
          <a:p>
            <a:pPr marL="725998" lvl="4" indent="0">
              <a:buNone/>
            </a:pPr>
            <a:endParaRPr lang="en-US" sz="1600" dirty="0"/>
          </a:p>
          <a:p>
            <a:pPr marL="725998" lvl="4" indent="0">
              <a:buNone/>
            </a:pPr>
            <a:endParaRPr lang="en-US" sz="1800" dirty="0"/>
          </a:p>
          <a:p>
            <a:r>
              <a:rPr lang="en-US" sz="1800" dirty="0"/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6C32C9-F177-9D31-93C5-445260056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910" y="2725152"/>
            <a:ext cx="3696468" cy="251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1957D8-B3EC-FE29-64B0-D6FB9185C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4" y="2725152"/>
            <a:ext cx="3546370" cy="25448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66A13B-5D9F-5439-2793-34E9818CF070}"/>
              </a:ext>
            </a:extLst>
          </p:cNvPr>
          <p:cNvSpPr txBox="1"/>
          <p:nvPr/>
        </p:nvSpPr>
        <p:spPr>
          <a:xfrm>
            <a:off x="725906" y="5154631"/>
            <a:ext cx="6099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Masked regions reveal focus of Grad-CAM.</a:t>
            </a:r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92D506-5E7D-BD94-E829-B0D5F15784C8}"/>
              </a:ext>
            </a:extLst>
          </p:cNvPr>
          <p:cNvSpPr txBox="1"/>
          <p:nvPr/>
        </p:nvSpPr>
        <p:spPr>
          <a:xfrm>
            <a:off x="7356456" y="5062210"/>
            <a:ext cx="6099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Grad-CAM boosts confidence as relevant pixels are added </a:t>
            </a:r>
          </a:p>
          <a:p>
            <a:r>
              <a:rPr lang="en-US" sz="1200" dirty="0"/>
              <a:t>— higher confidence with fewer pixels indicates better focus.</a:t>
            </a:r>
            <a:endParaRPr lang="en-IN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061F54-2926-B894-6BB0-F3DB636091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046" y="2618124"/>
            <a:ext cx="3270553" cy="24491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355B482-BDAC-BE4D-9084-58AB06122B96}"/>
              </a:ext>
            </a:extLst>
          </p:cNvPr>
          <p:cNvSpPr txBox="1"/>
          <p:nvPr/>
        </p:nvSpPr>
        <p:spPr>
          <a:xfrm>
            <a:off x="2729615" y="4962267"/>
            <a:ext cx="6339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i="1" dirty="0"/>
              <a:t>More pixels inserted →</a:t>
            </a:r>
          </a:p>
        </p:txBody>
      </p:sp>
    </p:spTree>
    <p:extLst>
      <p:ext uri="{BB962C8B-B14F-4D97-AF65-F5344CB8AC3E}">
        <p14:creationId xmlns:p14="http://schemas.microsoft.com/office/powerpoint/2010/main" val="390990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Exploring Class-Specific Saliency</a:t>
            </a:r>
            <a:endParaRPr lang="de-DE" sz="24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75734" y="1040143"/>
            <a:ext cx="9346479" cy="4690097"/>
          </a:xfrm>
        </p:spPr>
        <p:txBody>
          <a:bodyPr/>
          <a:lstStyle/>
          <a:p>
            <a:pPr marL="285750" indent="-2160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Grad-CAM enables </a:t>
            </a:r>
            <a:r>
              <a:rPr lang="en-US" sz="1600" b="1" dirty="0"/>
              <a:t>per-class saliency maps</a:t>
            </a:r>
            <a:r>
              <a:rPr lang="en-US" sz="1600" dirty="0"/>
              <a:t> in multi-label predictions.</a:t>
            </a:r>
          </a:p>
          <a:p>
            <a:pPr marL="285750" indent="-2160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Same image → </a:t>
            </a:r>
            <a:r>
              <a:rPr lang="en-US" sz="1600" b="1" dirty="0"/>
              <a:t>distinct saliency focus</a:t>
            </a:r>
            <a:r>
              <a:rPr lang="en-US" sz="1600" dirty="0"/>
              <a:t> for different classes.</a:t>
            </a:r>
          </a:p>
          <a:p>
            <a:pPr marL="285750" indent="-2160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Example:</a:t>
            </a:r>
          </a:p>
          <a:p>
            <a:pPr marL="838088" lvl="2" indent="-28575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600" dirty="0"/>
              <a:t>For </a:t>
            </a:r>
            <a:r>
              <a:rPr lang="en-US" sz="1600" b="1" dirty="0"/>
              <a:t>“person”</a:t>
            </a:r>
            <a:r>
              <a:rPr lang="en-US" sz="1600" dirty="0"/>
              <a:t>, Grad-CAM highlights </a:t>
            </a:r>
            <a:r>
              <a:rPr lang="en-US" sz="1600" b="1" dirty="0"/>
              <a:t>facial regions</a:t>
            </a:r>
            <a:r>
              <a:rPr lang="en-US" sz="1600" dirty="0"/>
              <a:t>..</a:t>
            </a:r>
          </a:p>
          <a:p>
            <a:pPr marL="838088" lvl="2" indent="-28575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600" dirty="0"/>
              <a:t>For </a:t>
            </a:r>
            <a:r>
              <a:rPr lang="en-US" sz="1600" b="1" dirty="0"/>
              <a:t>“sheep”</a:t>
            </a:r>
            <a:r>
              <a:rPr lang="en-US" sz="1600" dirty="0"/>
              <a:t> or </a:t>
            </a:r>
            <a:r>
              <a:rPr lang="en-US" sz="1600" b="1" dirty="0"/>
              <a:t>“horse”</a:t>
            </a:r>
            <a:r>
              <a:rPr lang="en-US" sz="1600" dirty="0"/>
              <a:t>, attention is correctly on the </a:t>
            </a:r>
            <a:r>
              <a:rPr lang="en-US" sz="1600" b="1" dirty="0"/>
              <a:t>animal</a:t>
            </a:r>
            <a:r>
              <a:rPr lang="en-US" sz="1600" dirty="0"/>
              <a:t>.</a:t>
            </a:r>
          </a:p>
          <a:p>
            <a:pPr marL="838088" lvl="2" indent="-28575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600" dirty="0"/>
              <a:t>Model correctly identifies both person and horse — Grad-CAM shows class-specific attention.</a:t>
            </a:r>
          </a:p>
          <a:p>
            <a:pPr marL="285750" indent="-2160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Helps explain </a:t>
            </a:r>
            <a:r>
              <a:rPr lang="en-US" sz="1600" b="1" dirty="0"/>
              <a:t>why</a:t>
            </a:r>
            <a:r>
              <a:rPr lang="en-US" sz="1600" dirty="0"/>
              <a:t> the model predicted a label.</a:t>
            </a:r>
          </a:p>
          <a:p>
            <a:pPr marL="285750" indent="-2160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Reveals potential </a:t>
            </a:r>
            <a:r>
              <a:rPr lang="en-IN" sz="1600" b="1" dirty="0"/>
              <a:t>failure modes or spurious correlations</a:t>
            </a:r>
            <a:r>
              <a:rPr lang="en-IN" sz="1600" dirty="0"/>
              <a:t> in predictions.</a:t>
            </a:r>
            <a:endParaRPr lang="en-US" sz="1600" dirty="0"/>
          </a:p>
          <a:p>
            <a:pPr marL="6975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endParaRPr lang="en-IN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343181-39A2-4490-C867-E37D1F814292}"/>
              </a:ext>
            </a:extLst>
          </p:cNvPr>
          <p:cNvSpPr txBox="1"/>
          <p:nvPr/>
        </p:nvSpPr>
        <p:spPr>
          <a:xfrm>
            <a:off x="3740272" y="5299601"/>
            <a:ext cx="2634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 dirty="0"/>
              <a:t>Person → Face-focused saliency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C6F096-B37F-D31D-E409-4EF5BC496502}"/>
              </a:ext>
            </a:extLst>
          </p:cNvPr>
          <p:cNvSpPr txBox="1"/>
          <p:nvPr/>
        </p:nvSpPr>
        <p:spPr>
          <a:xfrm>
            <a:off x="6574209" y="5275875"/>
            <a:ext cx="6099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Person → Focus on facial regions</a:t>
            </a:r>
            <a:endParaRPr lang="en-IN" sz="1200" i="1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DAC9F03-F890-7DC8-9B9C-73F4A64AD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69" y="4021978"/>
            <a:ext cx="2638260" cy="127225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F3B7729-0A89-E73A-2196-B28A1F9DA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930" y="3970159"/>
            <a:ext cx="2653898" cy="137589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BC8BF4E-D85E-4FDE-DF4A-A6FBB6A70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974" y="4039443"/>
            <a:ext cx="2457530" cy="125663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561B713-2812-E693-7072-D93D2CA58C42}"/>
              </a:ext>
            </a:extLst>
          </p:cNvPr>
          <p:cNvSpPr txBox="1"/>
          <p:nvPr/>
        </p:nvSpPr>
        <p:spPr>
          <a:xfrm>
            <a:off x="9318479" y="5253706"/>
            <a:ext cx="30203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 dirty="0"/>
              <a:t>Sheep → Full-body saliency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AA3AF7C-E1B6-C153-6198-64A93373C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7575" y="4028837"/>
            <a:ext cx="2617312" cy="133741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6EEEBC9-2613-8454-CF7A-D9D087E0B8E3}"/>
              </a:ext>
            </a:extLst>
          </p:cNvPr>
          <p:cNvSpPr txBox="1"/>
          <p:nvPr/>
        </p:nvSpPr>
        <p:spPr>
          <a:xfrm>
            <a:off x="1025581" y="5284374"/>
            <a:ext cx="27987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 dirty="0"/>
              <a:t>Horse → Head-focused saliency</a:t>
            </a:r>
          </a:p>
        </p:txBody>
      </p:sp>
    </p:spTree>
    <p:extLst>
      <p:ext uri="{BB962C8B-B14F-4D97-AF65-F5344CB8AC3E}">
        <p14:creationId xmlns:p14="http://schemas.microsoft.com/office/powerpoint/2010/main" val="1538609548"/>
      </p:ext>
    </p:extLst>
  </p:cSld>
  <p:clrMapOvr>
    <a:masterClrMapping/>
  </p:clrMapOvr>
</p:sld>
</file>

<file path=ppt/theme/theme1.xml><?xml version="1.0" encoding="utf-8"?>
<a:theme xmlns:a="http://schemas.openxmlformats.org/drawingml/2006/main" name="TUBraunschweig_PPT2007_Folienpool_16_9">
  <a:themeElements>
    <a:clrScheme name="TU Braunschweig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Galathea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/>
      </a:spPr>
      <a:bodyPr rtlCol="0" anchor="ctr"/>
      <a:lstStyle>
        <a:defPPr algn="ctr">
          <a:defRPr dirty="0" smtClean="0"/>
        </a:defPPr>
      </a:lstStyle>
      <a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TU Braunschweig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BE1E3C"/>
        </a:accent1>
        <a:accent2>
          <a:srgbClr val="4DA6CB"/>
        </a:accent2>
        <a:accent3>
          <a:srgbClr val="ADBF4D"/>
        </a:accent3>
        <a:accent4>
          <a:srgbClr val="FA6E00"/>
        </a:accent4>
        <a:accent5>
          <a:srgbClr val="407E97"/>
        </a:accent5>
        <a:accent6>
          <a:srgbClr val="984098"/>
        </a:accent6>
        <a:hlink>
          <a:srgbClr val="BE1E3C"/>
        </a:hlink>
        <a:folHlink>
          <a:srgbClr val="76005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</TotalTime>
  <Words>261</Words>
  <Application>Microsoft Office PowerPoint</Application>
  <PresentationFormat>Widescreen</PresentationFormat>
  <Paragraphs>47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Courier New</vt:lpstr>
      <vt:lpstr>Wingdings</vt:lpstr>
      <vt:lpstr>TUBraunschweig_PPT2007_Folienpool_16_9</vt:lpstr>
      <vt:lpstr>Motivation &amp; Metrics: Explainability with Grad-CAM</vt:lpstr>
      <vt:lpstr> Evaluating Explanation Quality</vt:lpstr>
      <vt:lpstr>Exploring Class-Specific Saliency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Inga Schleicher</dc:creator>
  <cp:lastModifiedBy>Ayush Juyal</cp:lastModifiedBy>
  <cp:revision>47</cp:revision>
  <dcterms:created xsi:type="dcterms:W3CDTF">2021-05-28T11:59:38Z</dcterms:created>
  <dcterms:modified xsi:type="dcterms:W3CDTF">2025-07-10T22:43:42Z</dcterms:modified>
</cp:coreProperties>
</file>